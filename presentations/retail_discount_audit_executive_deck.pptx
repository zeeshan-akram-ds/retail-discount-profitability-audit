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2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535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A2535"/>
                </a:solidFill>
                <a:latin typeface="Arial"/>
              </a:rPr>
              <a:t>Average Margin % by Discount Tier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Margin %</c:v>
                </c:pt>
              </c:strCache>
            </c:strRef>
          </c:tx>
          <c:spPr>
            <a:solidFill>
              <a:srgbClr val="1A3B72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A3B7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4CE-4808-943A-2864A52513EA}"/>
              </c:ext>
            </c:extLst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4CE-4808-943A-2864A52513EA}"/>
              </c:ext>
            </c:extLst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4CE-4808-943A-2864A52513E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253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Low Discount  (&lt;5%)</c:v>
                </c:pt>
                <c:pt idx="1">
                  <c:v>Moderate  (5–10%)</c:v>
                </c:pt>
                <c:pt idx="2">
                  <c:v>High Discount  (10–20%)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54.2</c:v>
                </c:pt>
                <c:pt idx="1">
                  <c:v>51.8</c:v>
                </c:pt>
                <c:pt idx="2">
                  <c:v>49.1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4CE-4808-943A-2864A52513E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8"/>
          <c:min val="4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A2535"/>
                </a:solidFill>
                <a:latin typeface="Arial"/>
              </a:defRPr>
            </a:pPr>
            <a:r>
              <a:rPr lang="en-US" sz="1050" b="0" i="0" u="none" strike="noStrike">
                <a:solidFill>
                  <a:srgbClr val="1A2535"/>
                </a:solidFill>
                <a:latin typeface="Arial"/>
              </a:rPr>
              <a:t>High-Discount Order Lines by Category (10–20% tier)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High-Discount Order Lines</c:v>
                </c:pt>
              </c:strCache>
            </c:strRef>
          </c:tx>
          <c:spPr>
            <a:solidFill>
              <a:srgbClr val="0D1B2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D1B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7B1-49DC-B1D6-04285D81CF60}"/>
              </c:ext>
            </c:extLst>
          </c:dPt>
          <c:dPt>
            <c:idx val="1"/>
            <c:invertIfNegative val="0"/>
            <c:bubble3D val="0"/>
            <c:spPr>
              <a:solidFill>
                <a:srgbClr val="1A32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B1-49DC-B1D6-04285D81CF60}"/>
              </c:ext>
            </c:extLst>
          </c:dPt>
          <c:dPt>
            <c:idx val="2"/>
            <c:invertIfNegative val="0"/>
            <c:bubble3D val="0"/>
            <c:spPr>
              <a:solidFill>
                <a:srgbClr val="243E6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7B1-49DC-B1D6-04285D81CF60}"/>
              </c:ext>
            </c:extLst>
          </c:dPt>
          <c:dPt>
            <c:idx val="3"/>
            <c:invertIfNegative val="0"/>
            <c:bubble3D val="0"/>
            <c:spPr>
              <a:solidFill>
                <a:srgbClr val="2C4E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7B1-49DC-B1D6-04285D81CF60}"/>
              </c:ext>
            </c:extLst>
          </c:dPt>
          <c:dPt>
            <c:idx val="4"/>
            <c:invertIfNegative val="0"/>
            <c:bubble3D val="0"/>
            <c:spPr>
              <a:solidFill>
                <a:srgbClr val="3B62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7B1-49DC-B1D6-04285D81CF60}"/>
              </c:ext>
            </c:extLst>
          </c:dPt>
          <c:dPt>
            <c:idx val="5"/>
            <c:invertIfNegative val="0"/>
            <c:bubble3D val="0"/>
            <c:spPr>
              <a:solidFill>
                <a:srgbClr val="4A76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7B1-49DC-B1D6-04285D81CF60}"/>
              </c:ext>
            </c:extLst>
          </c:dPt>
          <c:dPt>
            <c:idx val="6"/>
            <c:invertIfNegative val="0"/>
            <c:bubble3D val="0"/>
            <c:spPr>
              <a:solidFill>
                <a:srgbClr val="5A8E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67B1-49DC-B1D6-04285D81CF6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53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Computers</c:v>
                </c:pt>
                <c:pt idx="1">
                  <c:v>Cell Phones</c:v>
                </c:pt>
                <c:pt idx="2">
                  <c:v>Cameras &amp; Camcorders</c:v>
                </c:pt>
                <c:pt idx="3">
                  <c:v>TV &amp; Video</c:v>
                </c:pt>
                <c:pt idx="4">
                  <c:v>Audio</c:v>
                </c:pt>
                <c:pt idx="5">
                  <c:v>Games &amp; Toys</c:v>
                </c:pt>
                <c:pt idx="6">
                  <c:v>Home Appliances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18200</c:v>
                </c:pt>
                <c:pt idx="1">
                  <c:v>16700</c:v>
                </c:pt>
                <c:pt idx="2">
                  <c:v>8100</c:v>
                </c:pt>
                <c:pt idx="3">
                  <c:v>5200</c:v>
                </c:pt>
                <c:pt idx="4">
                  <c:v>4600</c:v>
                </c:pt>
                <c:pt idx="5">
                  <c:v>3800</c:v>
                </c:pt>
                <c:pt idx="6">
                  <c:v>3300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7B1-49DC-B1D6-04285D81CF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53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2237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05840" cy="3200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EXECUTIVE AUDIT PRESENTATION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Discount Profitability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Revenue Leakage Audit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discounting functioning as a strategic promotional tool, or has it become a structurally embedded pricing policy that continuously compresses margins?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070F1A"/>
          </a:solidFill>
          <a:ln w="12700">
            <a:solidFill>
              <a:srgbClr val="070F1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44805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Zeeshan Akram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0" y="44805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743200" y="4663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Python (Pandas)  ·  Power BI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44805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766560" y="4663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Contoso Retail (Synthetic)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Verdict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7772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headline findings from the full-stack audit (SQL · Python · Power BI)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1609344" cy="960120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051560"/>
            <a:ext cx="16093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$218.8M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28600" y="14721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6642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is profitable in aggregate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1005840"/>
            <a:ext cx="1609344" cy="960120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65960" y="1051560"/>
            <a:ext cx="16093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65960" y="14721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Penetration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965960" y="16642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~223K order lines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703320" y="1005840"/>
            <a:ext cx="1609344" cy="960120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03320" y="1051560"/>
            <a:ext cx="16093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14721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Margin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703320" y="16642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58% at full price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440680" y="1005840"/>
            <a:ext cx="1609344" cy="960120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40680" y="1051560"/>
            <a:ext cx="16093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14721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Gap Per Line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440680" y="16642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vs full-price lines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178040" y="1005840"/>
            <a:ext cx="1609344" cy="960120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1051560"/>
            <a:ext cx="16093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4–5pp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178040" y="14721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Compression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178040" y="16642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low-to-high discount tiers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56032" y="2121408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76656" y="2148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is the majority pricing behavior. 61% of all order lines are sold below listed price. It is not a promotional exception.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2642616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2642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76656" y="2670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compresses consistently as discount depth increases, from 54% at the low tier to 49% within the 10–20% tier, with no recovery at any level.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6032" y="3163824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6032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" y="31912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and Cell Phones account for ~46% of all high-discount order lines. Their scale amplifies a system-wide pattern into the majority of total margin erosion.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56032" y="3685032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6032" y="3685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76656" y="37124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High-discount customers produce the lowest margins (50.4%) and the lowest purchase frequency (3.2 avg. order lines). They are the least commercially efficient segment.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56032" y="4206240"/>
            <a:ext cx="329184" cy="3291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" y="4233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behavior is uniform across all stores and has been stable year over year. This is a centrally governed structural policy, not a local or temporary pattern.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8600" y="4873752"/>
            <a:ext cx="868680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VERDICT:  Discounting has ceased to function as a tactical lever. It operates as the company's structural pricing floor.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Transaction-Level Findings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depth drives consistent, directional margin compression across all tiers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229600" y="2743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50292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03327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75488" y="1417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Penetration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160934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~223K order lines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040" y="196596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965960"/>
            <a:ext cx="50292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03911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4pp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" y="24231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Efficiency Gap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61518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vs full-price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97180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971800"/>
            <a:ext cx="50292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04495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75488" y="34290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Line Gap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362102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$508 vs $605 per order line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397764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77640"/>
            <a:ext cx="50292" cy="868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405079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75488" y="443484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Discount–Margin Correlation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" y="462686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Moderate, systematic, directional</a:t>
            </a:r>
            <a:endParaRPr lang="en-US" sz="85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3566160" y="914400"/>
          <a:ext cx="5321808" cy="39136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Category-Level Leakage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amplification, not discount severity, drives the largest aggregate margin impact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229600" y="2743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8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914400"/>
          <a:ext cx="54406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914400"/>
            <a:ext cx="2926080" cy="1353312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43600" y="914400"/>
            <a:ext cx="50292" cy="13533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9904" y="10058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089904" y="134416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high-discount volume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89904" y="15270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and Cell Phones combined. These two categories alone concentrate nearly half of all high-discount transaction activity.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0" y="2395728"/>
            <a:ext cx="2926080" cy="13533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395728"/>
            <a:ext cx="50292" cy="135331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9904" y="24871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4.4–5.2pp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2825496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compression per category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89904" y="3008376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every product category when moving from low to high discount levels. The compression rate is uniform, no category is exempt.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43600" y="3913632"/>
            <a:ext cx="2926080" cy="914400"/>
          </a:xfrm>
          <a:prstGeom prst="rect">
            <a:avLst/>
          </a:prstGeom>
          <a:solidFill>
            <a:srgbClr val="FEF9ED"/>
          </a:solidFill>
          <a:ln w="12700">
            <a:solidFill>
              <a:srgbClr val="FDE68A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053328" y="397764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2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IMPLICATION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6053328" y="416966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pricing decision in Computers or Cell Phones carries outsized impact relative to any other product group. This concentration is the primary point of intervention.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Findings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has become embedded customer expectation, not a targeted incentive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229600" y="2743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2788920" cy="269748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278892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93268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DEPENDENCY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20040" y="120700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50% of purchases discounted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0040" y="1490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21,336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20040" y="175564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20040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53.5%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0040" y="226771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Margin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20040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20040" y="27797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Discount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0040" y="30266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3.77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20040" y="329184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Lines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88920" cy="269748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36392" y="914400"/>
            <a:ext cx="278892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93268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DEPENDENCY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27832" y="120700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– 75% of purchases discounted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27832" y="1490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14,758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3227832" y="175564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27832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51.7%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227832" y="226771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Margin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27832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3227832" y="27797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Discount Rate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227832" y="30266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6.23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227832" y="329184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Lines, highest of all segments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044184" y="914400"/>
            <a:ext cx="2788920" cy="2697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44184" y="914400"/>
            <a:ext cx="278892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44184" y="93268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DEPENDENCY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135624" y="120700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75% of purchases discounted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35624" y="1490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16,095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6135624" y="1755648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135624" y="20025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50.4%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6135624" y="226771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Margin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135624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6135624" y="27797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Discount Rate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135624" y="30266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3.20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135624" y="329184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Lines, lowest of all segments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28600" y="374904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8600" y="3749040"/>
            <a:ext cx="50292" cy="11155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8130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Engagement Finding (Inverted-U Pattern)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65760" y="406908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Medium-dependency customers generate 6.23 avg. order lines, nearly double the High-dependency group (3.20). Beyond a threshold, additional discount dependency reduces engagement rather than increasing it. High-discount customers are commercially inefficient in two dimensions simultaneously: lower margins and lower purchase frequency.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709160" y="374904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709160" y="3749040"/>
            <a:ext cx="50292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38130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 of Customers at Near-Total Discount Dependency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846320" y="406908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 of customers transact at 90%+ discount usage. Only 11% purchase near full price. For this segment, the discount is no longer an incentive, it is the effective price. Full-price purchasing has ceased to be a default expectation for a material share of the customer base.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response:  ranked by priority, expected impact, and implementation complexity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229600" y="2743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78982"/>
              </p:ext>
            </p:extLst>
          </p:nvPr>
        </p:nvGraphicFramePr>
        <p:xfrm>
          <a:off x="274320" y="914400"/>
          <a:ext cx="8275320" cy="3072384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Recommendation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Expected Impact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Implementation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Define and enforce a maximum discount depth cap, contain activity within the 10–20% tier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Margin recovery of 4–5pp on affected lines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Low: policy change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Apply category-specific discount rules to Computers and Cell Phones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Reduces ~46% of high-discount volume immediately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Medium: pricing update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Introduce segment-based promotional eligibility across Low / Medium / High customer tiers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Reduces High-segment dependency over time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Medium: CRM integration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Set the 61% discount rate as an actively managed KPI with a defined acceptable range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Converts passive outcome into a controlled variable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Low: reporting change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Conduct a full central pricing policy review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Any change propagates across all stores at full scale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2535"/>
                          </a:solidFill>
                        </a:rPr>
                        <a:t>High: policy redesign</a:t>
                      </a:r>
                      <a:endParaRPr lang="en-US" sz="85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320040" y="4187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NOTES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320040" y="4389120"/>
            <a:ext cx="8549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 with High-dependency customers: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rapid move toward full-price enforcement for this segment carries churn risk. A phased approach is advisable.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20040" y="4617720"/>
            <a:ext cx="8549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interventions will have no effect: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Pricing is centrally governed. Any change must occur at the policy level to propagate at full scale.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20040" y="4846320"/>
            <a:ext cx="8549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urgent deterioration: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Discount rates and margins are stable year over year. The business is not in a declining trend, but it is operating at a structurally compressed baseline.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2743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30352"/>
            <a:ext cx="914400" cy="3200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943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in One Statement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is not in financial distress. At the aggregate level, it is profitable. What this audit finds is that the current margin level is not a temporarily suppressed version of a higher baseline, it is the baseline, built into the pricing model through discounting behavior that has become self-reinforcing over time. Reversing this requires deliberate policy decisions, not operational fixes.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" y="2514600"/>
            <a:ext cx="8613648" cy="658368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587752"/>
            <a:ext cx="402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2587752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floor has shifted.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28437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52% blended margin is the operating reality under current pricing policy. Absent deliberate change, it will remain there.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3273552"/>
            <a:ext cx="8613648" cy="658368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346704"/>
            <a:ext cx="402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96112" y="3346704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concentration creates asymmetric exposure.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96112" y="360273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and Cell Phones carry outsized risk. Targeted policy changes in these two categories would address the majority of total margin erosion.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4032504"/>
            <a:ext cx="8613648" cy="658368"/>
          </a:xfrm>
          <a:prstGeom prst="rect">
            <a:avLst/>
          </a:prstGeom>
          <a:solidFill>
            <a:srgbClr val="16273B"/>
          </a:solidFill>
          <a:ln w="12700">
            <a:solidFill>
              <a:srgbClr val="1D34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4105656"/>
            <a:ext cx="402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96112" y="4105656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space is at the policy level.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" y="43616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store behavior and stable year-over-year trends confirm this is a centrally governed structure. Any meaningful change must begin at that level.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70F1A"/>
          </a:solidFill>
          <a:ln w="12700">
            <a:solidFill>
              <a:srgbClr val="070F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873752"/>
            <a:ext cx="85039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Contoso Retail  |  Retail Discount Profitability &amp; Revenue Leakage Audit  |  Full-Stack Analysis: PostgreSQL · Python · Power BI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1111</Words>
  <Application>Microsoft Office PowerPoint</Application>
  <PresentationFormat>On-screen Show (16:9)</PresentationFormat>
  <Paragraphs>155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Discount Profitability &amp; Revenue Leakage Audit</dc:title>
  <dc:subject>PptxGenJS Presentation</dc:subject>
  <dc:creator>[Analyst Name]</dc:creator>
  <cp:lastModifiedBy>Zeeshan Akram</cp:lastModifiedBy>
  <cp:revision>2</cp:revision>
  <dcterms:created xsi:type="dcterms:W3CDTF">2026-05-12T04:19:47Z</dcterms:created>
  <dcterms:modified xsi:type="dcterms:W3CDTF">2026-05-12T05:13:17Z</dcterms:modified>
</cp:coreProperties>
</file>