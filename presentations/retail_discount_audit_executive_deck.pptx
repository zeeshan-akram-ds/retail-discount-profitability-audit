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swer" id="{8b2e87c6-c960-1cb2-9c5c-4ef8422f4e5a}">
          <p14:sldIdLst>
            <p14:sldId id="256"/>
          </p14:sldIdLst>
        </p14:section>
        <p14:section name="Evidence" id="{f7aa23c8-2f2f-c2c0-99a0-2748dd82ef36}">
          <p14:sldIdLst>
            <p14:sldId id="257"/>
            <p14:sldId id="258"/>
            <p14:sldId id="259"/>
          </p14:sldIdLst>
        </p14:section>
        <p14:section name="Next steps" id="{63892789-2ba5-01ef-f2b9-74bdd8e491bd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7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7B"/>
                </a:solidFill>
                <a:latin typeface="+mn-lt"/>
              </a:rPr>
              <a:t>Blended margin by discount depth (profit / revenue)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Blended margin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A59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6F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Full price</c:v>
                  </c:pt>
                  <c:pt idx="1">
                    <c:v>Under 5%</c:v>
                  </c:pt>
                  <c:pt idx="2">
                    <c:v>5 to 10%</c:v>
                  </c:pt>
                  <c:pt idx="3">
                    <c:v>10 to 20%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58.4</c:v>
                </c:pt>
                <c:pt idx="1">
                  <c:v>57.5</c:v>
                </c:pt>
                <c:pt idx="2">
                  <c:v>55</c:v>
                </c:pt>
                <c:pt idx="3">
                  <c:v>53.1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discount dollars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Games and Toys</c:v>
                  </c:pt>
                  <c:pt idx="1">
                    <c:v>Audio</c:v>
                  </c:pt>
                  <c:pt idx="2">
                    <c:v>Music, Movies, Audio Books</c:v>
                  </c:pt>
                  <c:pt idx="3">
                    <c:v>Cameras and camcorders</c:v>
                  </c:pt>
                  <c:pt idx="4">
                    <c:v>TV and Video</c:v>
                  </c:pt>
                  <c:pt idx="5">
                    <c:v>Home Appliances</c:v>
                  </c:pt>
                  <c:pt idx="6">
                    <c:v>Cell phones</c:v>
                  </c:pt>
                  <c:pt idx="7">
                    <c:v>Computers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</c:v>
                </c:pt>
                <c:pt idx="1">
                  <c:v>2.6</c:v>
                </c:pt>
                <c:pt idx="2">
                  <c:v>5.5</c:v>
                </c:pt>
                <c:pt idx="3">
                  <c:v>8.4</c:v>
                </c:pt>
                <c:pt idx="4">
                  <c:v>10.1</c:v>
                </c:pt>
                <c:pt idx="5">
                  <c:v>12.9</c:v>
                </c:pt>
                <c:pt idx="6">
                  <c:v>16.3</c:v>
                </c:pt>
                <c:pt idx="7">
                  <c:v>43.3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revenue</c:v>
                </c:pt>
              </c:strCache>
            </c:strRef>
          </c:tx>
          <c:spPr>
            <a:solidFill>
              <a:srgbClr val="9FB3C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Games and Toys</c:v>
                  </c:pt>
                  <c:pt idx="1">
                    <c:v>Audio</c:v>
                  </c:pt>
                  <c:pt idx="2">
                    <c:v>Music, Movies, Audio Books</c:v>
                  </c:pt>
                  <c:pt idx="3">
                    <c:v>Cameras and camcorders</c:v>
                  </c:pt>
                  <c:pt idx="4">
                    <c:v>TV and Video</c:v>
                  </c:pt>
                  <c:pt idx="5">
                    <c:v>Home Appliances</c:v>
                  </c:pt>
                  <c:pt idx="6">
                    <c:v>Cell phones</c:v>
                  </c:pt>
                  <c:pt idx="7">
                    <c:v>Computers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0.8</c:v>
                </c:pt>
                <c:pt idx="1">
                  <c:v>2.6</c:v>
                </c:pt>
                <c:pt idx="2">
                  <c:v>5.5</c:v>
                </c:pt>
                <c:pt idx="3">
                  <c:v>8.4</c:v>
                </c:pt>
                <c:pt idx="4">
                  <c:v>10.1</c:v>
                </c:pt>
                <c:pt idx="5">
                  <c:v>13.2</c:v>
                </c:pt>
                <c:pt idx="6">
                  <c:v>16.3</c:v>
                </c:pt>
                <c:pt idx="7">
                  <c:v>43.1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up front. Discounts cost $13.8M over ten years (6.3% of revenue, 11.3% of profit, about $101 per discounted line). 61% of order lines are discounted, and that rate is flat every year. The data cannot say whether the discounts were worth it: they pay for themselves only if removing them would lose more than about 1 in 6 discounted sales. Say clearly that this is synthetic Contoso data and a sample of the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136,913 of 223,974 order lines (61.1%) are discounted. Blended margin: about 54% on discounted lines vs 58.4% at full price; tiers 57.5 / 55.0 / 53.1. Discount dollars = sum of quantity x (list price - net price) = $13,787,101. The 'price cut alone' margin takes the 58.4% full-price cost ratio, keeps cost unchanged and applies each tier's average discount. No line is discounted by 20% or more. The per-line profit gap between discounted and full-price lines ($509 vs $605) compares different baskets and is not used as a loss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Break-even: retained share r = profit on discounted sales / (profit on discounted sales + discount dollars) = 69.65M / (69.65M + 13.79M) = 83.5%, so removal breaks even when 16.5% of discounted sales are lost. This is arithmetic, not a demand finding. It is the pass mark for the test on the next slides. A partial cap (lower discount, not none) breaks even at a smaller figure, which should be worked out before any test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Category: every category has 60.6% to 61.5% of lines discounted and gives up 6.2% to 6.4% of revenue. Computers and Cell phones are 45% of lines and 59% of revenue and hold 60% of discount dollars. Years: discount rate 60.9% to 61.9%, blended margin 55.8% to 56.1%. Locations: 63 stores plus online (42% of lines); discount rates 58.3% to 64.7%, chi-square about 54.8 on 64 locations, 1 location beyond 2 standard errors. Customers: of 3,826 customers with 10 or more lines, 71% sit between 50% and 80% discounted, 13 at 100%, none under 10%. Earlier customer segments (low, medium, high dependency) are not used: they come from small line counts. Nothing tested explains which sales get a discount; product, quantity and promotion calendar were not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are framed as budget, tracking and a controlled test because the data has no demand information to justify a confident price change. Test design: a fixed window (for example 6 to 8 weeks), random assignment across comparable stores or weeks (stores in this data are near-identical in discount rate and margin), and online (42% of lines) is the easiest place to randomize. Decide the pass mark before starting. Not supported: category-specific cuts (Computers and Cell phones are discounted exactly like every other category) and customer-level tiers (heavy buyers are discounted at about the average rate). Limits: synthetic dataset, line-level margin only (no overhead, returns, shipping or marketing), no promotion or reason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34440"/>
            <a:ext cx="104241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98755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MarginLens  |  Discount Profitability Audit  |  Sample audit on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DISCOUNT PROFITABILITY AUDIT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2344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$13.8M in discounts over ten years. Did they pay for themselves?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108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Audit of 223,974 order lines, 2016 to 2025, on the Contoso Retail dataset. This is a sample audit on synthetic data: the method carries over to a real business, the numbers do not.</a:t>
            </a:r>
            <a:endParaRPr lang="en-US" sz="1600" dirty="0"/>
          </a:p>
        </p:txBody>
      </p:sp>
      <p:sp>
        <p:nvSpPr>
          <p:cNvPr id="5" name="KPI 1"/>
          <p:cNvSpPr txBox="1"/>
          <p:nvPr/>
        </p:nvSpPr>
        <p:spPr>
          <a:xfrm>
            <a:off x="731520" y="4434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11.3%</a:t>
            </a:r>
            <a:endParaRPr lang="en-US" sz="5400" dirty="0"/>
          </a:p>
        </p:txBody>
      </p:sp>
      <p:sp>
        <p:nvSpPr>
          <p:cNvPr id="6" name="KPI label 1"/>
          <p:cNvSpPr txBox="1"/>
          <p:nvPr/>
        </p:nvSpPr>
        <p:spPr>
          <a:xfrm>
            <a:off x="731520" y="5394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of profit given away in discounts: 6.3% of revenue, about $101 per discounted line</a:t>
            </a:r>
            <a:endParaRPr lang="en-US" sz="1400" dirty="0"/>
          </a:p>
        </p:txBody>
      </p:sp>
      <p:sp>
        <p:nvSpPr>
          <p:cNvPr id="7" name="KPI 2"/>
          <p:cNvSpPr txBox="1"/>
          <p:nvPr/>
        </p:nvSpPr>
        <p:spPr>
          <a:xfrm>
            <a:off x="4389120" y="4434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61%</a:t>
            </a:r>
            <a:endParaRPr lang="en-US" sz="5400" dirty="0"/>
          </a:p>
        </p:txBody>
      </p:sp>
      <p:sp>
        <p:nvSpPr>
          <p:cNvPr id="8" name="KPI label 2"/>
          <p:cNvSpPr txBox="1"/>
          <p:nvPr/>
        </p:nvSpPr>
        <p:spPr>
          <a:xfrm>
            <a:off x="4389120" y="5394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of order lines sold below list price, in every year</a:t>
            </a:r>
            <a:endParaRPr lang="en-US" sz="1400" dirty="0"/>
          </a:p>
        </p:txBody>
      </p:sp>
      <p:sp>
        <p:nvSpPr>
          <p:cNvPr id="9" name="KPI 3"/>
          <p:cNvSpPr txBox="1"/>
          <p:nvPr/>
        </p:nvSpPr>
        <p:spPr>
          <a:xfrm>
            <a:off x="8046720" y="4434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1 in 6</a:t>
            </a:r>
            <a:endParaRPr lang="en-US" sz="5400" dirty="0"/>
          </a:p>
        </p:txBody>
      </p:sp>
      <p:sp>
        <p:nvSpPr>
          <p:cNvPr id="10" name="KPI label 3"/>
          <p:cNvSpPr txBox="1"/>
          <p:nvPr/>
        </p:nvSpPr>
        <p:spPr>
          <a:xfrm>
            <a:off x="8046720" y="5394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discounted sales the discount must win to pay for itself</a:t>
            </a:r>
            <a:endParaRPr lang="en-US" sz="1400" dirty="0"/>
          </a:p>
        </p:txBody>
      </p:sp>
      <p:sp>
        <p:nvSpPr>
          <p:cNvPr id="11" name="Presenter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Zeeshan Akram  |  MarginLens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discounts cost $13.8M, and the margin loss is just the price cut</a:t>
            </a:r>
            <a:endParaRPr lang="en-US" sz="3400" dirty="0"/>
          </a:p>
        </p:txBody>
      </p:sp>
      <p:graphicFrame>
        <p:nvGraphicFramePr>
          <p:cNvPr id="3" name="Margin by tier chart" descr=""/>
          <p:cNvGraphicFramePr/>
          <p:nvPr/>
        </p:nvGraphicFramePr>
        <p:xfrm>
          <a:off x="548640" y="1691640"/>
          <a:ext cx="69494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 caption"/>
          <p:cNvSpPr txBox="1"/>
          <p:nvPr/>
        </p:nvSpPr>
        <p:spPr>
          <a:xfrm>
            <a:off x="548640" y="55778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 price cut alone, with cost unchanged, predicts 57.4%, 55.0% and 52.8%. The actual margins are within 0.3 points, so discounted sales carry no hidden extra cost.</a:t>
            </a:r>
            <a:endParaRPr lang="en-US" sz="1200" dirty="0"/>
          </a:p>
        </p:txBody>
      </p:sp>
      <p:sp>
        <p:nvSpPr>
          <p:cNvPr id="5" name="Revenue share card"/>
          <p:cNvSpPr/>
          <p:nvPr/>
        </p:nvSpPr>
        <p:spPr>
          <a:xfrm>
            <a:off x="8046720" y="1737360"/>
            <a:ext cx="356616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Revenue share number"/>
          <p:cNvSpPr txBox="1"/>
          <p:nvPr/>
        </p:nvSpPr>
        <p:spPr>
          <a:xfrm>
            <a:off x="8321040" y="186537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6.3%</a:t>
            </a:r>
            <a:endParaRPr lang="en-US" sz="3200" dirty="0"/>
          </a:p>
        </p:txBody>
      </p:sp>
      <p:sp>
        <p:nvSpPr>
          <p:cNvPr id="7" name="Revenue share label"/>
          <p:cNvSpPr txBox="1"/>
          <p:nvPr/>
        </p:nvSpPr>
        <p:spPr>
          <a:xfrm>
            <a:off x="832104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revenue given up to discounts</a:t>
            </a:r>
            <a:endParaRPr lang="en-US" sz="1400" dirty="0"/>
          </a:p>
        </p:txBody>
      </p:sp>
      <p:sp>
        <p:nvSpPr>
          <p:cNvPr id="8" name="Profit share card"/>
          <p:cNvSpPr/>
          <p:nvPr/>
        </p:nvSpPr>
        <p:spPr>
          <a:xfrm>
            <a:off x="8046720" y="3291840"/>
            <a:ext cx="356616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Profit share number"/>
          <p:cNvSpPr txBox="1"/>
          <p:nvPr/>
        </p:nvSpPr>
        <p:spPr>
          <a:xfrm>
            <a:off x="8321040" y="341985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11.3%</a:t>
            </a:r>
            <a:endParaRPr lang="en-US" sz="3200" dirty="0"/>
          </a:p>
        </p:txBody>
      </p:sp>
      <p:sp>
        <p:nvSpPr>
          <p:cNvPr id="10" name="Profit share label"/>
          <p:cNvSpPr txBox="1"/>
          <p:nvPr/>
        </p:nvSpPr>
        <p:spPr>
          <a:xfrm>
            <a:off x="8321040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profit: the discounts total $13.8M</a:t>
            </a:r>
            <a:endParaRPr lang="en-US" sz="1400" dirty="0"/>
          </a:p>
        </p:txBody>
      </p:sp>
      <p:sp>
        <p:nvSpPr>
          <p:cNvPr id="11" name="Per line card"/>
          <p:cNvSpPr/>
          <p:nvPr/>
        </p:nvSpPr>
        <p:spPr>
          <a:xfrm>
            <a:off x="8046720" y="4846320"/>
            <a:ext cx="356616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Per line number"/>
          <p:cNvSpPr txBox="1"/>
          <p:nvPr/>
        </p:nvSpPr>
        <p:spPr>
          <a:xfrm>
            <a:off x="8321040" y="497433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$101</a:t>
            </a:r>
            <a:endParaRPr lang="en-US" sz="3200" dirty="0"/>
          </a:p>
        </p:txBody>
      </p:sp>
      <p:sp>
        <p:nvSpPr>
          <p:cNvPr id="13" name="Per line label"/>
          <p:cNvSpPr txBox="1"/>
          <p:nvPr/>
        </p:nvSpPr>
        <p:spPr>
          <a:xfrm>
            <a:off x="8321040" y="5577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given up per discounted order line, on average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discounts pay off only if they win 1 in 6 discounted sales</a:t>
            </a:r>
            <a:endParaRPr lang="en-US" sz="3400" dirty="0"/>
          </a:p>
        </p:txBody>
      </p:sp>
      <p:sp>
        <p:nvSpPr>
          <p:cNvPr id="3" name="Sale 1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Sale 2"/>
          <p:cNvSpPr/>
          <p:nvPr/>
        </p:nvSpPr>
        <p:spPr>
          <a:xfrm>
            <a:off x="1554480" y="18288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Sale 3"/>
          <p:cNvSpPr/>
          <p:nvPr/>
        </p:nvSpPr>
        <p:spPr>
          <a:xfrm>
            <a:off x="2560320" y="18288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Sale 4"/>
          <p:cNvSpPr/>
          <p:nvPr/>
        </p:nvSpPr>
        <p:spPr>
          <a:xfrm>
            <a:off x="3566160" y="18288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Sale 5"/>
          <p:cNvSpPr/>
          <p:nvPr/>
        </p:nvSpPr>
        <p:spPr>
          <a:xfrm>
            <a:off x="4572000" y="18288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Sale 6"/>
          <p:cNvSpPr/>
          <p:nvPr/>
        </p:nvSpPr>
        <p:spPr>
          <a:xfrm>
            <a:off x="5577840" y="18288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ictogram label left"/>
          <p:cNvSpPr txBox="1"/>
          <p:nvPr/>
        </p:nvSpPr>
        <p:spPr>
          <a:xfrm>
            <a:off x="54864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5 sell either way</a:t>
            </a:r>
            <a:endParaRPr lang="en-US" sz="1400" dirty="0"/>
          </a:p>
        </p:txBody>
      </p:sp>
      <p:sp>
        <p:nvSpPr>
          <p:cNvPr id="10" name="Pictogram label right"/>
          <p:cNvSpPr txBox="1"/>
          <p:nvPr/>
        </p:nvSpPr>
        <p:spPr>
          <a:xfrm>
            <a:off x="4206240" y="2697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 needs the discount</a:t>
            </a:r>
            <a:endParaRPr lang="en-US" sz="1400" dirty="0"/>
          </a:p>
        </p:txBody>
      </p:sp>
      <p:sp>
        <p:nvSpPr>
          <p:cNvPr id="11" name="Break-even statement"/>
          <p:cNvSpPr txBox="1"/>
          <p:nvPr/>
        </p:nvSpPr>
        <p:spPr>
          <a:xfrm>
            <a:off x="548640" y="37947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If removing discounts would lose more than 1 of every 6 discounted sales, the discounts are paying for themselves. If it would lose fewer, they are costing money.</a:t>
            </a:r>
            <a:endParaRPr lang="en-US" sz="1800" dirty="0"/>
          </a:p>
        </p:txBody>
      </p:sp>
      <p:sp>
        <p:nvSpPr>
          <p:cNvPr id="12" name="Limit statement"/>
          <p:cNvSpPr txBox="1"/>
          <p:nvPr/>
        </p:nvSpPr>
        <p:spPr>
          <a:xfrm>
            <a:off x="548640" y="50749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This data has no demand or before-and-after information, so it cannot say which side the business is on. A controlled test can.</a:t>
            </a:r>
            <a:endParaRPr lang="en-US" sz="1400" dirty="0"/>
          </a:p>
        </p:txBody>
      </p:sp>
      <p:sp>
        <p:nvSpPr>
          <p:cNvPr id="13" name="Arithmetic card"/>
          <p:cNvSpPr/>
          <p:nvPr/>
        </p:nvSpPr>
        <p:spPr>
          <a:xfrm>
            <a:off x="7406640" y="1737360"/>
            <a:ext cx="4206240" cy="4251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Arithmetic heading"/>
          <p:cNvSpPr txBox="1"/>
          <p:nvPr/>
        </p:nvSpPr>
        <p:spPr>
          <a:xfrm>
            <a:off x="772668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arithmetic</a:t>
            </a:r>
            <a:endParaRPr lang="en-US" sz="1800" dirty="0"/>
          </a:p>
        </p:txBody>
      </p:sp>
      <p:sp>
        <p:nvSpPr>
          <p:cNvPr id="15" name="Arithmetic label 1"/>
          <p:cNvSpPr txBox="1"/>
          <p:nvPr/>
        </p:nvSpPr>
        <p:spPr>
          <a:xfrm>
            <a:off x="772668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Profit on discounted sales today</a:t>
            </a:r>
            <a:endParaRPr lang="en-US" sz="1400" dirty="0"/>
          </a:p>
        </p:txBody>
      </p:sp>
      <p:sp>
        <p:nvSpPr>
          <p:cNvPr id="16" name="Arithmetic value 1"/>
          <p:cNvSpPr txBox="1"/>
          <p:nvPr/>
        </p:nvSpPr>
        <p:spPr>
          <a:xfrm>
            <a:off x="996696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$69.7M</a:t>
            </a:r>
            <a:endParaRPr lang="en-US" sz="2200" dirty="0"/>
          </a:p>
        </p:txBody>
      </p:sp>
      <p:sp>
        <p:nvSpPr>
          <p:cNvPr id="17" name="Arithmetic label 2"/>
          <p:cNvSpPr txBox="1"/>
          <p:nvPr/>
        </p:nvSpPr>
        <p:spPr>
          <a:xfrm>
            <a:off x="772668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Discounts given on those sales</a:t>
            </a:r>
            <a:endParaRPr lang="en-US" sz="1400" dirty="0"/>
          </a:p>
        </p:txBody>
      </p:sp>
      <p:sp>
        <p:nvSpPr>
          <p:cNvPr id="18" name="Arithmetic value 2"/>
          <p:cNvSpPr txBox="1"/>
          <p:nvPr/>
        </p:nvSpPr>
        <p:spPr>
          <a:xfrm>
            <a:off x="9966960" y="3246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$13.8M</a:t>
            </a:r>
            <a:endParaRPr lang="en-US" sz="2200" dirty="0"/>
          </a:p>
        </p:txBody>
      </p:sp>
      <p:sp>
        <p:nvSpPr>
          <p:cNvPr id="19" name="Arithmetic label 3"/>
          <p:cNvSpPr txBox="1"/>
          <p:nvPr/>
        </p:nvSpPr>
        <p:spPr>
          <a:xfrm>
            <a:off x="772668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Same sales, no discount, none lost</a:t>
            </a:r>
            <a:endParaRPr lang="en-US" sz="1400" dirty="0"/>
          </a:p>
        </p:txBody>
      </p:sp>
      <p:sp>
        <p:nvSpPr>
          <p:cNvPr id="20" name="Arithmetic value 3"/>
          <p:cNvSpPr txBox="1"/>
          <p:nvPr/>
        </p:nvSpPr>
        <p:spPr>
          <a:xfrm>
            <a:off x="9966960" y="4023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$83.4M</a:t>
            </a:r>
            <a:endParaRPr lang="en-US" sz="2200" dirty="0"/>
          </a:p>
        </p:txBody>
      </p:sp>
      <p:sp>
        <p:nvSpPr>
          <p:cNvPr id="21" name="Arithmetic label 4"/>
          <p:cNvSpPr txBox="1"/>
          <p:nvPr/>
        </p:nvSpPr>
        <p:spPr>
          <a:xfrm>
            <a:off x="7726680" y="4800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Share that must stay to break even</a:t>
            </a:r>
            <a:endParaRPr lang="en-US" sz="1400" dirty="0"/>
          </a:p>
        </p:txBody>
      </p:sp>
      <p:sp>
        <p:nvSpPr>
          <p:cNvPr id="22" name="Arithmetic value 4"/>
          <p:cNvSpPr txBox="1"/>
          <p:nvPr/>
        </p:nvSpPr>
        <p:spPr>
          <a:xfrm>
            <a:off x="9966960" y="4800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83.5%</a:t>
            </a:r>
            <a:endParaRPr lang="en-US" sz="2200" dirty="0"/>
          </a:p>
        </p:txBody>
      </p:sp>
      <p:sp>
        <p:nvSpPr>
          <p:cNvPr id="23" name="Arithmetic caption"/>
          <p:cNvSpPr txBox="1"/>
          <p:nvPr/>
        </p:nvSpPr>
        <p:spPr>
          <a:xfrm>
            <a:off x="7726680" y="5532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Assumes a lost sale loses all its profit. Ignores repeat purchases, returns and overhead.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Discounting looks like a habit: same in every category, year and location</a:t>
            </a:r>
            <a:endParaRPr lang="en-US" sz="3400" dirty="0"/>
          </a:p>
        </p:txBody>
      </p:sp>
      <p:graphicFrame>
        <p:nvGraphicFramePr>
          <p:cNvPr id="3" name="Category share chart" descr=""/>
          <p:cNvGraphicFramePr/>
          <p:nvPr/>
        </p:nvGraphicFramePr>
        <p:xfrm>
          <a:off x="548640" y="1691640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 caption"/>
          <p:cNvSpPr txBox="1"/>
          <p:nvPr/>
        </p:nvSpPr>
        <p:spPr>
          <a:xfrm>
            <a:off x="548640" y="56692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Every category has about 61% of its lines discounted and gives up about 6.3% of its revenue. Computers and Cell phones hold most discount dollars only because they hold most revenue.</a:t>
            </a:r>
            <a:endParaRPr lang="en-US" sz="1200" dirty="0"/>
          </a:p>
        </p:txBody>
      </p:sp>
      <p:sp>
        <p:nvSpPr>
          <p:cNvPr id="5" name="Years card"/>
          <p:cNvSpPr/>
          <p:nvPr/>
        </p:nvSpPr>
        <p:spPr>
          <a:xfrm>
            <a:off x="8138160" y="1737360"/>
            <a:ext cx="347472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Years number"/>
          <p:cNvSpPr txBox="1"/>
          <p:nvPr/>
        </p:nvSpPr>
        <p:spPr>
          <a:xfrm>
            <a:off x="8412480" y="186537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60.9 to 61.9%</a:t>
            </a:r>
            <a:endParaRPr lang="en-US" sz="3200" dirty="0"/>
          </a:p>
        </p:txBody>
      </p:sp>
      <p:sp>
        <p:nvSpPr>
          <p:cNvPr id="7" name="Years label"/>
          <p:cNvSpPr txBox="1"/>
          <p:nvPr/>
        </p:nvSpPr>
        <p:spPr>
          <a:xfrm>
            <a:off x="8412480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lines discounted in every year from 2016 to 2025</a:t>
            </a:r>
            <a:endParaRPr lang="en-US" sz="1400" dirty="0"/>
          </a:p>
        </p:txBody>
      </p:sp>
      <p:sp>
        <p:nvSpPr>
          <p:cNvPr id="8" name="Locations card"/>
          <p:cNvSpPr/>
          <p:nvPr/>
        </p:nvSpPr>
        <p:spPr>
          <a:xfrm>
            <a:off x="8138160" y="3291840"/>
            <a:ext cx="347472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Locations number"/>
          <p:cNvSpPr txBox="1"/>
          <p:nvPr/>
        </p:nvSpPr>
        <p:spPr>
          <a:xfrm>
            <a:off x="8412480" y="341985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64 locations</a:t>
            </a:r>
            <a:endParaRPr lang="en-US" sz="3200" dirty="0"/>
          </a:p>
        </p:txBody>
      </p:sp>
      <p:sp>
        <p:nvSpPr>
          <p:cNvPr id="10" name="Locations label"/>
          <p:cNvSpPr txBox="1"/>
          <p:nvPr/>
        </p:nvSpPr>
        <p:spPr>
          <a:xfrm>
            <a:off x="841248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location differs from the rest by more than chance</a:t>
            </a:r>
            <a:endParaRPr lang="en-US" sz="1400" dirty="0"/>
          </a:p>
        </p:txBody>
      </p:sp>
      <p:sp>
        <p:nvSpPr>
          <p:cNvPr id="11" name="Customers card"/>
          <p:cNvSpPr/>
          <p:nvPr/>
        </p:nvSpPr>
        <p:spPr>
          <a:xfrm>
            <a:off x="8138160" y="4846320"/>
            <a:ext cx="347472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Customers number"/>
          <p:cNvSpPr txBox="1"/>
          <p:nvPr/>
        </p:nvSpPr>
        <p:spPr>
          <a:xfrm>
            <a:off x="8412480" y="497433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3,826 customers</a:t>
            </a:r>
            <a:endParaRPr lang="en-US" sz="3200" dirty="0"/>
          </a:p>
        </p:txBody>
      </p:sp>
      <p:sp>
        <p:nvSpPr>
          <p:cNvPr id="13" name="Customers label"/>
          <p:cNvSpPr txBox="1"/>
          <p:nvPr/>
        </p:nvSpPr>
        <p:spPr>
          <a:xfrm>
            <a:off x="8412480" y="5577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with 10+ lines: rates cluster at the 61% average, only 13 always discounted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Budget it, label it, then test it</a:t>
            </a:r>
            <a:endParaRPr lang="en-US" sz="3400" dirty="0"/>
          </a:p>
        </p:txBody>
      </p:sp>
      <p:sp>
        <p:nvSpPr>
          <p:cNvPr id="3" name="Action card 1"/>
          <p:cNvSpPr/>
          <p:nvPr/>
        </p:nvSpPr>
        <p:spPr>
          <a:xfrm>
            <a:off x="548640" y="1737360"/>
            <a:ext cx="3566160" cy="3246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Action number circle 1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ction number 1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Action heading 1"/>
          <p:cNvSpPr txBox="1"/>
          <p:nvPr/>
        </p:nvSpPr>
        <p:spPr>
          <a:xfrm>
            <a:off x="82296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Put a budget on discounts</a:t>
            </a:r>
            <a:endParaRPr lang="en-US" sz="1800" dirty="0"/>
          </a:p>
        </p:txBody>
      </p:sp>
      <p:sp>
        <p:nvSpPr>
          <p:cNvPr id="7" name="Action text 1"/>
          <p:cNvSpPr txBox="1"/>
          <p:nvPr/>
        </p:nvSpPr>
        <p:spPr>
          <a:xfrm>
            <a:off x="822960" y="338328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They cost 6.3% of revenue and the rate has not moved in ten years. Set a ceiling as a share of revenue and report discount rate, depth and margin every week.</a:t>
            </a:r>
            <a:endParaRPr lang="en-US" sz="1400" dirty="0"/>
          </a:p>
        </p:txBody>
      </p:sp>
      <p:sp>
        <p:nvSpPr>
          <p:cNvPr id="8" name="Action card 2"/>
          <p:cNvSpPr/>
          <p:nvPr/>
        </p:nvSpPr>
        <p:spPr>
          <a:xfrm>
            <a:off x="4297680" y="1737360"/>
            <a:ext cx="3566160" cy="3246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Action number circle 2"/>
          <p:cNvSpPr/>
          <p:nvPr/>
        </p:nvSpPr>
        <p:spPr>
          <a:xfrm>
            <a:off x="457200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Action number 2"/>
          <p:cNvSpPr txBox="1"/>
          <p:nvPr/>
        </p:nvSpPr>
        <p:spPr>
          <a:xfrm>
            <a:off x="45720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Action heading 2"/>
          <p:cNvSpPr txBox="1"/>
          <p:nvPr/>
        </p:nvSpPr>
        <p:spPr>
          <a:xfrm>
            <a:off x="457200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Record why each discount is given</a:t>
            </a:r>
            <a:endParaRPr lang="en-US" sz="1800" dirty="0"/>
          </a:p>
        </p:txBody>
      </p:sp>
      <p:sp>
        <p:nvSpPr>
          <p:cNvPr id="12" name="Action text 2"/>
          <p:cNvSpPr txBox="1"/>
          <p:nvPr/>
        </p:nvSpPr>
        <p:spPr>
          <a:xfrm>
            <a:off x="4572000" y="338328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Category, store, customer and year do not explain which sales get one. Add a reason code at the point of sale and compare profit per reason after a quarter.</a:t>
            </a:r>
            <a:endParaRPr lang="en-US" sz="1400" dirty="0"/>
          </a:p>
        </p:txBody>
      </p:sp>
      <p:sp>
        <p:nvSpPr>
          <p:cNvPr id="13" name="Action card 3"/>
          <p:cNvSpPr/>
          <p:nvPr/>
        </p:nvSpPr>
        <p:spPr>
          <a:xfrm>
            <a:off x="8046720" y="1737360"/>
            <a:ext cx="3566160" cy="3246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Action number circle 3"/>
          <p:cNvSpPr/>
          <p:nvPr/>
        </p:nvSpPr>
        <p:spPr>
          <a:xfrm>
            <a:off x="832104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Action number 3"/>
          <p:cNvSpPr txBox="1"/>
          <p:nvPr/>
        </p:nvSpPr>
        <p:spPr>
          <a:xfrm>
            <a:off x="83210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Action heading 3"/>
          <p:cNvSpPr txBox="1"/>
          <p:nvPr/>
        </p:nvSpPr>
        <p:spPr>
          <a:xfrm>
            <a:off x="832104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 a lower cap on the 10 to 20% tier</a:t>
            </a:r>
            <a:endParaRPr lang="en-US" sz="1800" dirty="0"/>
          </a:p>
        </p:txBody>
      </p:sp>
      <p:sp>
        <p:nvSpPr>
          <p:cNvPr id="17" name="Action text 3"/>
          <p:cNvSpPr txBox="1"/>
          <p:nvPr/>
        </p:nvSpPr>
        <p:spPr>
          <a:xfrm>
            <a:off x="8321040" y="338328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It holds 61% of discounted lines. Lower the cap in a random half of stores or weeks and compare units and profit. Agree the pass mark first: 16.5% of sales lost breaks even for removing discounts entirely.</a:t>
            </a:r>
            <a:endParaRPr lang="en-US" sz="1400" dirty="0"/>
          </a:p>
        </p:txBody>
      </p:sp>
      <p:sp>
        <p:nvSpPr>
          <p:cNvPr id="18" name="Not supported card"/>
          <p:cNvSpPr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Not supported text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 supported by this data:  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cutting discounts on Computers and Cell phones only, or building customer-level discount tiers.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ginLens Discount Audit">
  <a:themeElements>
    <a:clrScheme name="MarginLens Discount Audit">
      <a:dk1>
        <a:srgbClr val="1B2A3A"/>
      </a:dk1>
      <a:lt1>
        <a:srgbClr val="FFFFFF"/>
      </a:lt1>
      <a:dk2>
        <a:srgbClr val="0E7C7B"/>
      </a:dk2>
      <a:lt2>
        <a:srgbClr val="F3F6F8"/>
      </a:lt2>
      <a:accent1>
        <a:srgbClr val="0E7C7B"/>
      </a:accent1>
      <a:accent2>
        <a:srgbClr val="C0392B"/>
      </a:accent2>
      <a:accent3>
        <a:srgbClr val="9FB3C2"/>
      </a:accent3>
      <a:accent4>
        <a:srgbClr val="E3A59D"/>
      </a:accent4>
      <a:accent5>
        <a:srgbClr val="E07A6C"/>
      </a:accent5>
      <a:accent6>
        <a:srgbClr val="5B6B7B"/>
      </a:accent6>
      <a:hlink>
        <a:srgbClr val="0E7C7B"/>
      </a:hlink>
      <a:folHlink>
        <a:srgbClr val="5B6B7B"/>
      </a:folHlink>
    </a:clrScheme>
    <a:fontScheme name="MarginLens Discount Aud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Discount Profitability Audit</dc:title>
  <dc:subject>PptxGenJS Presentation</dc:subject>
  <dc:creator>Zeeshan Akram, MarginLens</dc:creator>
  <cp:lastModifiedBy>Zeeshan Akram, MarginLens</cp:lastModifiedBy>
  <cp:revision>1</cp:revision>
  <dcterms:created xsi:type="dcterms:W3CDTF">2026-10-15T03:20:11Z</dcterms:created>
  <dcterms:modified xsi:type="dcterms:W3CDTF">2026-10-15T03:20:11Z</dcterms:modified>
</cp:coreProperties>
</file>